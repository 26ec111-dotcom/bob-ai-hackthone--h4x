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713"/>
    <a:srgbClr val="089634"/>
    <a:srgbClr val="FFFFFF"/>
    <a:srgbClr val="0F1726"/>
    <a:srgbClr val="45B8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2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75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08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36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304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257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291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081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0878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34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0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43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25265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21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046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653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0489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71183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7412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0900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9021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2038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91604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2425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7196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959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0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404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49" r:id="rId1"/>
    <p:sldLayoutId id="2147484350" r:id="rId2"/>
    <p:sldLayoutId id="2147484351" r:id="rId3"/>
    <p:sldLayoutId id="2147484352" r:id="rId4"/>
    <p:sldLayoutId id="2147484353" r:id="rId5"/>
    <p:sldLayoutId id="2147484354" r:id="rId6"/>
    <p:sldLayoutId id="2147484355" r:id="rId7"/>
    <p:sldLayoutId id="2147484356" r:id="rId8"/>
    <p:sldLayoutId id="2147484357" r:id="rId9"/>
    <p:sldLayoutId id="2147484358" r:id="rId10"/>
    <p:sldLayoutId id="2147484359" r:id="rId11"/>
    <p:sldLayoutId id="2147484360" r:id="rId12"/>
    <p:sldLayoutId id="2147484361" r:id="rId13"/>
    <p:sldLayoutId id="2147484362" r:id="rId14"/>
    <p:sldLayoutId id="2147484363" r:id="rId15"/>
    <p:sldLayoutId id="2147484364" r:id="rId16"/>
    <p:sldLayoutId id="2147484365" r:id="rId17"/>
    <p:sldLayoutId id="2147484366" r:id="rId18"/>
    <p:sldLayoutId id="2147484367" r:id="rId19"/>
    <p:sldLayoutId id="2147484368" r:id="rId20"/>
    <p:sldLayoutId id="2147484369" r:id="rId21"/>
    <p:sldLayoutId id="2147484370" r:id="rId22"/>
    <p:sldLayoutId id="2147484371" r:id="rId23"/>
    <p:sldLayoutId id="2147484372" r:id="rId24"/>
    <p:sldLayoutId id="2147484373" r:id="rId25"/>
    <p:sldLayoutId id="2147484374" r:id="rId26"/>
    <p:sldLayoutId id="214748437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31720" cy="310896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484632"/>
            <a:ext cx="2331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8DCD2"/>
                </a:solidFill>
                <a:latin typeface="Aptos"/>
              </a:defRPr>
            </a:pPr>
            <a:r>
              <a:t>IBM BOB AI INNOVATION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181" y="1152358"/>
            <a:ext cx="500682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2F7FF"/>
                </a:solidFill>
                <a:latin typeface="Aptos"/>
              </a:defRPr>
            </a:pPr>
            <a:r>
              <a:rPr sz="3600" dirty="0">
                <a:solidFill>
                  <a:schemeClr val="tx2">
                    <a:lumMod val="10000"/>
                  </a:schemeClr>
                </a:solidFill>
              </a:rPr>
              <a:t>AI SMART CLASSROOM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236148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28DCD2"/>
                </a:solidFill>
                <a:latin typeface="Aptos"/>
              </a:defRPr>
            </a:pPr>
            <a:r>
              <a:rPr dirty="0">
                <a:solidFill>
                  <a:srgbClr val="089634"/>
                </a:solidFill>
              </a:rPr>
              <a:t>GUARDIAN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48154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A4B1C6"/>
                </a:solidFill>
                <a:latin typeface="Aptos"/>
              </a:defRPr>
            </a:pPr>
            <a:r>
              <a:rPr sz="2000" b="1" dirty="0">
                <a:solidFill>
                  <a:schemeClr val="tx2">
                    <a:lumMod val="10000"/>
                  </a:schemeClr>
                </a:solidFill>
              </a:rPr>
              <a:t>“A classroom that thinks before it acts.”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155" y="5990659"/>
            <a:ext cx="390350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8DCD2"/>
                </a:solidFill>
                <a:latin typeface="Aptos"/>
              </a:defRPr>
            </a:pPr>
            <a:r>
              <a:rPr sz="1200" dirty="0">
                <a:solidFill>
                  <a:srgbClr val="089634"/>
                </a:solidFill>
              </a:rPr>
              <a:t>AI  •  ENERGY  •  SAFETY  •  SECURITY  • 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83487"/>
            <a:ext cx="20958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4B1C6"/>
                </a:solidFill>
                <a:latin typeface="Aptos"/>
              </a:defRPr>
            </a:pPr>
            <a:r>
              <a:rPr sz="1400" dirty="0">
                <a:solidFill>
                  <a:schemeClr val="tx2">
                    <a:lumMod val="50000"/>
                  </a:schemeClr>
                </a:solidFill>
              </a:rPr>
              <a:t>Team H4X  |  CHARUSAT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960120"/>
            <a:ext cx="3794760" cy="480060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33941" y="1234440"/>
            <a:ext cx="158024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4B1C6"/>
                </a:solidFill>
                <a:latin typeface="Aptos"/>
              </a:defRPr>
            </a:pPr>
            <a:r>
              <a:rPr sz="1400" dirty="0"/>
              <a:t>CLASSROOM 204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0" y="1965960"/>
            <a:ext cx="1554480" cy="1554480"/>
          </a:xfrm>
          <a:prstGeom prst="ellipse">
            <a:avLst/>
          </a:prstGeom>
          <a:solidFill>
            <a:srgbClr val="28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0" y="2002536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5" name="Oval 14"/>
          <p:cNvSpPr/>
          <p:nvPr/>
        </p:nvSpPr>
        <p:spPr>
          <a:xfrm>
            <a:off x="8138160" y="3977639"/>
            <a:ext cx="411480" cy="411480"/>
          </a:xfrm>
          <a:prstGeom prst="ellipse">
            <a:avLst/>
          </a:prstGeom>
          <a:solidFill>
            <a:srgbClr val="4A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4014215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453127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2F7FF"/>
                </a:solidFill>
                <a:latin typeface="Aptos"/>
              </a:defRPr>
            </a:pPr>
            <a:r>
              <a:t>ENERGY</a:t>
            </a:r>
          </a:p>
        </p:txBody>
      </p:sp>
      <p:sp>
        <p:nvSpPr>
          <p:cNvPr id="18" name="Oval 17"/>
          <p:cNvSpPr/>
          <p:nvPr/>
        </p:nvSpPr>
        <p:spPr>
          <a:xfrm>
            <a:off x="9281160" y="4297680"/>
            <a:ext cx="411480" cy="411480"/>
          </a:xfrm>
          <a:prstGeom prst="ellipse">
            <a:avLst/>
          </a:prstGeom>
          <a:solidFill>
            <a:srgbClr val="FF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43342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7731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2F7FF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21" name="Oval 20"/>
          <p:cNvSpPr/>
          <p:nvPr/>
        </p:nvSpPr>
        <p:spPr>
          <a:xfrm>
            <a:off x="10241280" y="3840480"/>
            <a:ext cx="411480" cy="411480"/>
          </a:xfrm>
          <a:prstGeom prst="ellipse">
            <a:avLst/>
          </a:prstGeom>
          <a:solidFill>
            <a:srgbClr val="FF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0" y="387705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19" y="4315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2F7FF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24" name="Oval 23"/>
          <p:cNvSpPr/>
          <p:nvPr/>
        </p:nvSpPr>
        <p:spPr>
          <a:xfrm>
            <a:off x="8458200" y="4800600"/>
            <a:ext cx="411480" cy="411480"/>
          </a:xfrm>
          <a:prstGeom prst="ellipse">
            <a:avLst/>
          </a:prstGeom>
          <a:solidFill>
            <a:srgbClr val="A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8200" y="483717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2760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2F7FF"/>
                </a:solidFill>
                <a:latin typeface="Aptos"/>
              </a:defRPr>
            </a:pPr>
            <a:r>
              <a:t>SECURITY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5542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8DCD2"/>
                </a:solidFill>
                <a:latin typeface="Aptos"/>
              </a:defRPr>
            </a:pPr>
            <a:r>
              <a:rPr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01 —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400" y="733582"/>
            <a:ext cx="1025017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rPr sz="3200" dirty="0">
                <a:solidFill>
                  <a:schemeClr val="tx1">
                    <a:lumMod val="95000"/>
                  </a:schemeClr>
                </a:solidFill>
              </a:rPr>
              <a:t>A </a:t>
            </a:r>
            <a:r>
              <a:rPr sz="3600" dirty="0">
                <a:solidFill>
                  <a:schemeClr val="tx1">
                    <a:lumMod val="95000"/>
                  </a:schemeClr>
                </a:solidFill>
              </a:rPr>
              <a:t>smart</a:t>
            </a:r>
            <a:r>
              <a:rPr sz="3200" dirty="0">
                <a:solidFill>
                  <a:schemeClr val="tx1">
                    <a:lumMod val="95000"/>
                  </a:schemeClr>
                </a:solidFill>
              </a:rPr>
              <a:t> classroom can still waste energy &amp; miss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07592"/>
            <a:ext cx="48635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1600">
                <a:solidFill>
                  <a:schemeClr val="accent5">
                    <a:lumMod val="60000"/>
                    <a:lumOff val="40000"/>
                  </a:schemeClr>
                </a:solidFill>
              </a:rPr>
              <a:t>Four everyday gaps — one missing layer: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606040" cy="21488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A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2167128"/>
            <a:ext cx="384048" cy="384048"/>
          </a:xfrm>
          <a:prstGeom prst="ellipse">
            <a:avLst/>
          </a:prstGeom>
          <a:solidFill>
            <a:srgbClr val="4A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20370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148840"/>
            <a:ext cx="1728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ENERGY WASTE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177" y="2583179"/>
            <a:ext cx="2351063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rPr dirty="0"/>
              <a:t>Lights, AC and devices can remain ON when the room is empty.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965960"/>
            <a:ext cx="2606040" cy="21488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02736" y="2167128"/>
            <a:ext cx="384048" cy="384048"/>
          </a:xfrm>
          <a:prstGeom prst="ellipse">
            <a:avLst/>
          </a:prstGeom>
          <a:solidFill>
            <a:srgbClr val="FF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02736" y="220370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2148840"/>
            <a:ext cx="1728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POWER PROBLEMS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9" y="2606038"/>
            <a:ext cx="21945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rPr sz="1050" dirty="0"/>
              <a:t>Abnormal electrical conditions can threaten sensitive equipment.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965960"/>
            <a:ext cx="2606040" cy="21488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64224" y="2167128"/>
            <a:ext cx="384048" cy="384048"/>
          </a:xfrm>
          <a:prstGeom prst="ellipse">
            <a:avLst/>
          </a:prstGeom>
          <a:solidFill>
            <a:srgbClr val="FF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4" y="220370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148840"/>
            <a:ext cx="1728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SAFETY RISKS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606039"/>
            <a:ext cx="21945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rPr dirty="0"/>
              <a:t>Smoke, overheating and unusual conditions may go unnoticed.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1965960"/>
            <a:ext cx="2606040" cy="21488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A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25712" y="2167128"/>
            <a:ext cx="384048" cy="384048"/>
          </a:xfrm>
          <a:prstGeom prst="ellipse">
            <a:avLst/>
          </a:prstGeom>
          <a:solidFill>
            <a:srgbClr val="A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25712" y="220370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2148840"/>
            <a:ext cx="1728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SECURITY GAPS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644483"/>
            <a:ext cx="21214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rPr dirty="0"/>
              <a:t>Unusual or unauthorized activity needs faster detection.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617720"/>
            <a:ext cx="10881360" cy="914400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1101213" y="4873752"/>
            <a:ext cx="93308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“The problem is not lack of technology. The problem is lack of intelligence.”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6519" y="448718"/>
            <a:ext cx="169950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8DCD2"/>
                </a:solidFill>
                <a:latin typeface="Aptos"/>
              </a:defRPr>
            </a:pPr>
            <a:r>
              <a:rPr sz="1400" dirty="0">
                <a:solidFill>
                  <a:srgbClr val="089634"/>
                </a:solidFill>
              </a:rPr>
              <a:t>02 — 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6519" y="724154"/>
            <a:ext cx="9398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rPr sz="2800" dirty="0">
                <a:solidFill>
                  <a:schemeClr val="tx2">
                    <a:lumMod val="10000"/>
                  </a:schemeClr>
                </a:solidFill>
              </a:rPr>
              <a:t>What if the classroom could think — and protect?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07592"/>
            <a:ext cx="587571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2000" dirty="0">
                <a:solidFill>
                  <a:schemeClr val="tx2">
                    <a:lumMod val="10000"/>
                  </a:schemeClr>
                </a:solidFill>
              </a:rPr>
              <a:t>Two capabilities converge into one AI decision layer</a:t>
            </a:r>
            <a:r>
              <a:rPr sz="20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834640" cy="265176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SMART CLASSROOM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971800"/>
            <a:ext cx="1005840" cy="310896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4A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4AE091"/>
                </a:solidFill>
                <a:latin typeface="Aptos"/>
              </a:defRPr>
            </a:pPr>
            <a:r>
              <a:t>OCCUPANCY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2971800"/>
            <a:ext cx="1005840" cy="310896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03120" y="3017520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CA4B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401568"/>
            <a:ext cx="1005840" cy="310896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447288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5C69"/>
                </a:solidFill>
                <a:latin typeface="Aptos"/>
              </a:defRPr>
            </a:pPr>
            <a:r>
              <a:t>TEMP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401568"/>
            <a:ext cx="1005840" cy="310896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A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0" y="3447288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A56EFF"/>
                </a:solidFill>
                <a:latin typeface="Aptos"/>
              </a:defRPr>
            </a:pPr>
            <a:r>
              <a:t>DEVICES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20440" y="3291840"/>
            <a:ext cx="1051560" cy="0"/>
          </a:xfrm>
          <a:prstGeom prst="line">
            <a:avLst/>
          </a:prstGeom>
          <a:ln w="25400">
            <a:solidFill>
              <a:srgbClr val="2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0" y="2331720"/>
            <a:ext cx="2743200" cy="1920240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DCD2"/>
                </a:solidFill>
                <a:latin typeface="Aptos"/>
              </a:defRPr>
            </a:pPr>
            <a:r>
              <a:t>AI DECISION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1089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4B1C6"/>
                </a:solidFill>
                <a:latin typeface="Aptos"/>
              </a:defRPr>
            </a:pPr>
            <a:r>
              <a:t>Context + patterns</a:t>
            </a:r>
            <a:br/>
            <a:r>
              <a:t>→ best action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0" y="3291840"/>
            <a:ext cx="960120" cy="0"/>
          </a:xfrm>
          <a:prstGeom prst="line">
            <a:avLst/>
          </a:prstGeom>
          <a:ln w="25400">
            <a:solidFill>
              <a:srgbClr val="2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75320" y="1965960"/>
            <a:ext cx="2971800" cy="265176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228600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88036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AE091"/>
                </a:solidFill>
                <a:latin typeface="Aptos"/>
              </a:defRPr>
            </a:pPr>
            <a:r>
              <a:t>⚡ Save 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33756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CA4B"/>
                </a:solidFill>
                <a:latin typeface="Aptos"/>
              </a:defRPr>
            </a:pPr>
            <a:r>
              <a:t>🛡 Protect equipment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79476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5C69"/>
                </a:solidFill>
                <a:latin typeface="Aptos"/>
              </a:defRPr>
            </a:pPr>
            <a:r>
              <a:t>🚨 Alert staff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569" y="5212080"/>
            <a:ext cx="1015438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4B1C6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Automation makes the classroom smart.  •  Power Guard makes it safer.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42218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8DCD2"/>
                </a:solidFill>
                <a:latin typeface="Aptos"/>
              </a:defRPr>
            </a:pPr>
            <a:r>
              <a:rPr sz="1050" dirty="0">
                <a:solidFill>
                  <a:srgbClr val="033713"/>
                </a:solidFill>
              </a:rPr>
              <a:t>03 —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5992"/>
            <a:ext cx="640034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rPr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 Smart Classroom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07592"/>
            <a:ext cx="27847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1400" dirty="0">
                <a:solidFill>
                  <a:srgbClr val="033713"/>
                </a:solidFill>
              </a:rPr>
              <a:t>SENSE → THINK → PROTECT → 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606040" cy="23317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A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2304288"/>
            <a:ext cx="384048" cy="384048"/>
          </a:xfrm>
          <a:prstGeom prst="ellipse">
            <a:avLst/>
          </a:prstGeom>
          <a:solidFill>
            <a:srgbClr val="4A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34086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286000"/>
            <a:ext cx="1728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743200"/>
            <a:ext cx="215155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rPr sz="1000"/>
              <a:t>Sensors • smart meter • occupancy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64408" y="3246120"/>
            <a:ext cx="210312" cy="0"/>
          </a:xfrm>
          <a:prstGeom prst="line">
            <a:avLst/>
          </a:prstGeom>
          <a:ln w="25400">
            <a:solidFill>
              <a:srgbClr val="4AE0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7287" y="2103120"/>
            <a:ext cx="2606040" cy="23317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48456" y="2304288"/>
            <a:ext cx="384048" cy="384048"/>
          </a:xfrm>
          <a:prstGeom prst="ellipse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48456" y="234086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1" y="2286000"/>
            <a:ext cx="1728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743200"/>
            <a:ext cx="2148840" cy="1554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t>AI analyzes occupancy • energy • power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53327" y="3246120"/>
            <a:ext cx="210313" cy="0"/>
          </a:xfrm>
          <a:prstGeom prst="line">
            <a:avLst/>
          </a:prstGeom>
          <a:ln w="25400">
            <a:solidFill>
              <a:srgbClr val="4B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36207" y="2103120"/>
            <a:ext cx="2606040" cy="23317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37375" y="2304288"/>
            <a:ext cx="384048" cy="384048"/>
          </a:xfrm>
          <a:prstGeom prst="ellipse">
            <a:avLst/>
          </a:prstGeom>
          <a:solidFill>
            <a:srgbClr val="FF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5" y="234086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1" y="2286000"/>
            <a:ext cx="1728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PROTECT &amp; 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2743200"/>
            <a:ext cx="2148840" cy="1554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t>Power Guard detects abnormal conditions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42248" y="3246120"/>
            <a:ext cx="210311" cy="0"/>
          </a:xfrm>
          <a:prstGeom prst="line">
            <a:avLst/>
          </a:prstGeom>
          <a:ln w="25400">
            <a:solidFill>
              <a:srgbClr val="FFC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25128" y="2103120"/>
            <a:ext cx="2606040" cy="23317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26296" y="2304288"/>
            <a:ext cx="384048" cy="384048"/>
          </a:xfrm>
          <a:prstGeom prst="ellipse">
            <a:avLst/>
          </a:prstGeom>
          <a:solidFill>
            <a:srgbClr val="28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26296" y="234086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2" y="2286000"/>
            <a:ext cx="17282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2743200"/>
            <a:ext cx="2148840" cy="1554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t>Controls devices • alerts staff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81360" cy="749808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230368"/>
            <a:ext cx="10469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DCD2"/>
                </a:solidFill>
                <a:latin typeface="Aptos"/>
              </a:defRPr>
            </a:pPr>
            <a:r>
              <a:t>ONE LOOP:  SENSE   →   THINK   →   PROTECT   →   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3371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9143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8DCD2"/>
                </a:solidFill>
                <a:latin typeface="Aptos"/>
              </a:defRPr>
            </a:pPr>
            <a:r>
              <a:rPr sz="1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04 —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rPr dirty="0"/>
              <a:t>From classroom signals to intelligent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2423160" cy="65836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A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2423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F7FF"/>
                </a:solidFill>
                <a:latin typeface="Aptos"/>
              </a:defRPr>
            </a:pPr>
            <a:r>
              <a:t>OCCUPANCY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65960"/>
            <a:ext cx="2423160" cy="65836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2176272"/>
            <a:ext cx="2423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F7FF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2423160" cy="65836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176272"/>
            <a:ext cx="2423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F7FF"/>
                </a:solidFill>
                <a:latin typeface="Aptos"/>
              </a:defRPr>
            </a:pPr>
            <a:r>
              <a:t>TEMPERATURE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965960"/>
            <a:ext cx="2423160" cy="65836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A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2176272"/>
            <a:ext cx="2423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2F7FF"/>
                </a:solidFill>
                <a:latin typeface="Aptos"/>
              </a:defRPr>
            </a:pPr>
            <a:r>
              <a:t>DEVICES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624328"/>
            <a:ext cx="0" cy="438912"/>
          </a:xfrm>
          <a:prstGeom prst="line">
            <a:avLst/>
          </a:prstGeom>
          <a:ln w="25400">
            <a:solidFill>
              <a:srgbClr val="21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43400" y="3063240"/>
            <a:ext cx="3474720" cy="658368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3273552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8DCD2"/>
                </a:solidFill>
                <a:latin typeface="Aptos"/>
              </a:defRPr>
            </a:pPr>
            <a:r>
              <a:t>DATA LAYER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926080" y="3730752"/>
            <a:ext cx="2194560" cy="429768"/>
          </a:xfrm>
          <a:prstGeom prst="line">
            <a:avLst/>
          </a:prstGeom>
          <a:ln w="25400">
            <a:solidFill>
              <a:srgbClr val="21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40880" y="3730752"/>
            <a:ext cx="2194560" cy="429768"/>
          </a:xfrm>
          <a:prstGeom prst="line">
            <a:avLst/>
          </a:prstGeom>
          <a:ln w="25400">
            <a:solidFill>
              <a:srgbClr val="21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0B57397-A414-19EB-EFDB-BDF50C5B5E1F}"/>
              </a:ext>
            </a:extLst>
          </p:cNvPr>
          <p:cNvSpPr/>
          <p:nvPr/>
        </p:nvSpPr>
        <p:spPr>
          <a:xfrm>
            <a:off x="731521" y="1240585"/>
            <a:ext cx="6309359" cy="393192"/>
          </a:xfrm>
          <a:prstGeom prst="roundRect">
            <a:avLst/>
          </a:prstGeom>
          <a:solidFill>
            <a:srgbClr val="0F17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51560" y="4160520"/>
            <a:ext cx="3566160" cy="14173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252728" y="4361688"/>
            <a:ext cx="384048" cy="384048"/>
          </a:xfrm>
          <a:prstGeom prst="ellipse">
            <a:avLst/>
          </a:prstGeom>
          <a:solidFill>
            <a:srgbClr val="4B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52728" y="439826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6504" y="4343400"/>
            <a:ext cx="26883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AI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006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t>Energy analysis + occupancy 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4160520"/>
            <a:ext cx="3566160" cy="14173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744968" y="4361688"/>
            <a:ext cx="384048" cy="384048"/>
          </a:xfrm>
          <a:prstGeom prst="ellipse">
            <a:avLst/>
          </a:prstGeom>
          <a:solidFill>
            <a:srgbClr val="FF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44968" y="439826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4343400"/>
            <a:ext cx="2688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POWER GUARD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006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t>Power analysis + anomaly detection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17720" y="4873752"/>
            <a:ext cx="640080" cy="0"/>
          </a:xfrm>
          <a:prstGeom prst="line">
            <a:avLst/>
          </a:prstGeom>
          <a:ln w="25400">
            <a:solidFill>
              <a:srgbClr val="2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931152" y="4873752"/>
            <a:ext cx="612648" cy="0"/>
          </a:xfrm>
          <a:prstGeom prst="line">
            <a:avLst/>
          </a:prstGeom>
          <a:ln w="25400">
            <a:solidFill>
              <a:srgbClr val="2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617720" y="5285232"/>
            <a:ext cx="2971800" cy="685800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36592" y="5495544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28DCD2"/>
                </a:solidFill>
                <a:latin typeface="Aptos"/>
              </a:defRPr>
            </a:pPr>
            <a:r>
              <a:t>AI DECISION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288" y="1280160"/>
            <a:ext cx="62858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1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 single pipeline connects sensing, AI analysis, Power Guard and res</a:t>
            </a:r>
            <a:r>
              <a:rPr lang="en-IN" sz="1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ponse</a:t>
            </a:r>
            <a:r>
              <a:rPr sz="1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37249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8DCD2"/>
                </a:solidFill>
                <a:latin typeface="Aptos"/>
              </a:defRPr>
            </a:pPr>
            <a:r>
              <a:rPr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05 — THE AI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3493"/>
            <a:ext cx="85184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rPr sz="3200" dirty="0">
                <a:solidFill>
                  <a:schemeClr val="tx2">
                    <a:lumMod val="10000"/>
                  </a:schemeClr>
                </a:solidFill>
              </a:rPr>
              <a:t>Why AI? Because context beats simple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074920" cy="35204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2148840"/>
            <a:ext cx="1874519" cy="310896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A4B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187451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A4B1C6"/>
                </a:solidFill>
                <a:latin typeface="Aptos"/>
              </a:defRPr>
            </a:pPr>
            <a:r>
              <a:t>TRADITIONAL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2F7FF"/>
                </a:solidFill>
                <a:latin typeface="Aptos"/>
              </a:defRPr>
            </a:pPr>
            <a:r>
              <a:t>IF nobody detected →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4526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A4B1C6"/>
                </a:solidFill>
                <a:latin typeface="Aptos"/>
              </a:defRPr>
            </a:pPr>
            <a:r>
              <a:t>One condition</a:t>
            </a:r>
            <a:br/>
            <a:r>
              <a:t>One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349240" cy="35204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2148840"/>
            <a:ext cx="1463040" cy="310896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1463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28DCD2"/>
                </a:solidFill>
                <a:latin typeface="Aptos"/>
              </a:defRPr>
            </a:pPr>
            <a:r>
              <a:t>AI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2F7FF"/>
                </a:solidFill>
                <a:latin typeface="Aptos"/>
              </a:defRPr>
            </a:pPr>
            <a:r>
              <a:t>Occupancy + timetable + power + energy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8DCD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6732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8DCD2"/>
                </a:solidFill>
                <a:latin typeface="Aptos"/>
              </a:defRPr>
            </a:pPr>
            <a:r>
              <a:t>AI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9768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4B1C6"/>
                </a:solidFill>
                <a:latin typeface="Aptos"/>
              </a:defRPr>
            </a:pPr>
            <a:r>
              <a:t>Keep active • Save energy • Alert • Protect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715000"/>
            <a:ext cx="10789920" cy="502920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53529" y="5852160"/>
            <a:ext cx="50544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“Automation follows rules.  AI understands context.”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BF00826-C834-BFF5-6A7E-D99125053F2A}"/>
              </a:ext>
            </a:extLst>
          </p:cNvPr>
          <p:cNvSpPr/>
          <p:nvPr/>
        </p:nvSpPr>
        <p:spPr>
          <a:xfrm>
            <a:off x="685800" y="1362619"/>
            <a:ext cx="6054543" cy="307777"/>
          </a:xfrm>
          <a:prstGeom prst="roundRect">
            <a:avLst/>
          </a:prstGeom>
          <a:solidFill>
            <a:schemeClr val="tx2">
              <a:lumMod val="10000"/>
            </a:schemeClr>
          </a:solidFill>
          <a:ln>
            <a:solidFill>
              <a:schemeClr val="bg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22960" y="1376099"/>
            <a:ext cx="605454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1400" dirty="0">
                <a:solidFill>
                  <a:schemeClr val="tx1">
                    <a:lumMod val="95000"/>
                  </a:schemeClr>
                </a:solidFill>
              </a:rPr>
              <a:t>Traditional automation reacts to one signal. Our guardian combines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51035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8DCD2"/>
                </a:solidFill>
                <a:latin typeface="Aptos"/>
              </a:defRPr>
            </a:pPr>
            <a:r>
              <a:rPr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06 — HERO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t>⚡ POWER 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233" y="1405212"/>
            <a:ext cx="408477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1400" dirty="0">
                <a:solidFill>
                  <a:schemeClr val="tx1">
                    <a:lumMod val="95000"/>
                  </a:schemeClr>
                </a:solidFill>
              </a:rPr>
              <a:t>Protecting the classroom before damage happens.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703320" cy="3977639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CA4B"/>
                </a:solidFill>
                <a:latin typeface="Aptos"/>
              </a:defRPr>
            </a:pPr>
            <a:r>
              <a:t>POWER 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3154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4B1C6"/>
                </a:solidFill>
                <a:latin typeface="Aptos"/>
              </a:defRPr>
            </a:pPr>
            <a:r>
              <a:t>REAL-TIME WATCH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154680"/>
            <a:ext cx="3063240" cy="338328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227832"/>
            <a:ext cx="2788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Voltage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611880"/>
            <a:ext cx="3063240" cy="338328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685031"/>
            <a:ext cx="2788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069080"/>
            <a:ext cx="3063240" cy="338328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4A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142231"/>
            <a:ext cx="2788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Power consumption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526280"/>
            <a:ext cx="3063240" cy="338328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A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599431"/>
            <a:ext cx="2788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Sudden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983480"/>
            <a:ext cx="3063240" cy="338328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5056631"/>
            <a:ext cx="2788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Abnormal patterns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148840"/>
            <a:ext cx="5760720" cy="56692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2331720"/>
            <a:ext cx="5760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2F7FF"/>
                </a:solidFill>
                <a:latin typeface="Aptos"/>
              </a:defRPr>
            </a:pPr>
            <a:r>
              <a:t>POWER DATA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2724912"/>
            <a:ext cx="0" cy="246888"/>
          </a:xfrm>
          <a:prstGeom prst="line">
            <a:avLst/>
          </a:prstGeom>
          <a:ln w="25400">
            <a:solidFill>
              <a:srgbClr val="21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892040" y="2990088"/>
            <a:ext cx="5760720" cy="56692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3172968"/>
            <a:ext cx="5760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2F7FF"/>
                </a:solidFill>
                <a:latin typeface="Aptos"/>
              </a:defRPr>
            </a:pPr>
            <a:r>
              <a:t>AI MONITORING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0" y="3566160"/>
            <a:ext cx="0" cy="246888"/>
          </a:xfrm>
          <a:prstGeom prst="line">
            <a:avLst/>
          </a:prstGeom>
          <a:ln w="25400">
            <a:solidFill>
              <a:srgbClr val="21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892040" y="3831336"/>
            <a:ext cx="5760720" cy="56692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4014215"/>
            <a:ext cx="5760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2F7FF"/>
                </a:solidFill>
                <a:latin typeface="Aptos"/>
              </a:defRPr>
            </a:pPr>
            <a:r>
              <a:t>RISK ANALYSIS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0" y="4407408"/>
            <a:ext cx="0" cy="246888"/>
          </a:xfrm>
          <a:prstGeom prst="line">
            <a:avLst/>
          </a:prstGeom>
          <a:ln w="25400">
            <a:solidFill>
              <a:srgbClr val="21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892040" y="4672584"/>
            <a:ext cx="5760720" cy="56692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92040" y="4855464"/>
            <a:ext cx="5760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2F7FF"/>
                </a:solidFill>
                <a:latin typeface="Aptos"/>
              </a:defRPr>
            </a:pPr>
            <a:r>
              <a:t>PROTECT / 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669280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A4B1C6"/>
                </a:solidFill>
                <a:latin typeface="Aptos"/>
              </a:defRPr>
            </a:pPr>
            <a:r>
              <a:t>Abnormal condition?  →  identify early  →  respond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800EE77-E878-0F8E-4893-322929FFD0EA}"/>
              </a:ext>
            </a:extLst>
          </p:cNvPr>
          <p:cNvSpPr/>
          <p:nvPr/>
        </p:nvSpPr>
        <p:spPr>
          <a:xfrm>
            <a:off x="98323" y="1352973"/>
            <a:ext cx="5909187" cy="311235"/>
          </a:xfrm>
          <a:prstGeom prst="round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3371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8DCD2"/>
                </a:solidFill>
                <a:latin typeface="Aptos"/>
              </a:defRPr>
            </a:pPr>
            <a:r>
              <a:t>07 —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rPr dirty="0"/>
              <a:t>When Power Guard meets smart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644" y="1343716"/>
            <a:ext cx="59091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1600" dirty="0">
                <a:ln w="0"/>
                <a:solidFill>
                  <a:schemeClr val="tx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One brain. Two missions: SAVE ENERGY + PROTECT EQUIPMENT</a:t>
            </a:r>
            <a:r>
              <a:rPr dirty="0">
                <a:ln w="0"/>
                <a:solidFill>
                  <a:schemeClr val="tx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246120" cy="21488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Oval 7"/>
          <p:cNvSpPr/>
          <p:nvPr/>
        </p:nvSpPr>
        <p:spPr>
          <a:xfrm>
            <a:off x="886968" y="2258568"/>
            <a:ext cx="384048" cy="384048"/>
          </a:xfrm>
          <a:prstGeom prst="ellipse">
            <a:avLst/>
          </a:prstGeom>
          <a:solidFill>
            <a:srgbClr val="FF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9514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2240280"/>
            <a:ext cx="16186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POWER</a:t>
            </a:r>
            <a:r>
              <a:rPr dirty="0"/>
              <a:t> </a:t>
            </a:r>
            <a:r>
              <a:rPr sz="1600" dirty="0"/>
              <a:t>GUARD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rPr sz="1600" dirty="0"/>
              <a:t>Power condition </a:t>
            </a:r>
            <a:r>
              <a:rPr sz="1200" dirty="0"/>
              <a:t>analysis</a:t>
            </a:r>
            <a:br>
              <a:rPr sz="1600" dirty="0"/>
            </a:br>
            <a:r>
              <a:rPr sz="1600" dirty="0"/>
              <a:t>→ anomaly detection</a:t>
            </a:r>
            <a:br>
              <a:rPr sz="1600" dirty="0"/>
            </a:br>
            <a:r>
              <a:rPr sz="1600" dirty="0"/>
              <a:t>→ protective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057400"/>
            <a:ext cx="3246120" cy="214884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A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76488" y="2258568"/>
            <a:ext cx="384048" cy="384048"/>
          </a:xfrm>
          <a:prstGeom prst="ellipse">
            <a:avLst/>
          </a:prstGeom>
          <a:solidFill>
            <a:srgbClr val="4AE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229514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rPr dirty="0"/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0264" y="2240280"/>
            <a:ext cx="19843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AI</a:t>
            </a:r>
            <a:r>
              <a:rPr dirty="0"/>
              <a:t> </a:t>
            </a:r>
            <a:r>
              <a:rPr sz="1600" dirty="0"/>
              <a:t>AUTOMATION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503920" y="2697480"/>
            <a:ext cx="198432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rPr sz="1600"/>
              <a:t>Occupancy + energy</a:t>
            </a:r>
            <a:br>
              <a:rPr sz="1600"/>
            </a:br>
            <a:r>
              <a:rPr sz="1600"/>
              <a:t>→ context analysis</a:t>
            </a:r>
            <a:br>
              <a:rPr sz="1600"/>
            </a:br>
            <a:r>
              <a:rPr sz="1600"/>
              <a:t>→ optimization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240280"/>
            <a:ext cx="3063240" cy="1051560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2560320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DCD2"/>
                </a:solidFill>
                <a:latin typeface="Aptos"/>
              </a:defRPr>
            </a:pPr>
            <a:r>
              <a:t>AI DECISION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931920" y="2743200"/>
            <a:ext cx="640080" cy="365760"/>
          </a:xfrm>
          <a:prstGeom prst="line">
            <a:avLst/>
          </a:prstGeom>
          <a:ln w="25400">
            <a:solidFill>
              <a:srgbClr val="FFC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635240" y="2743200"/>
            <a:ext cx="640080" cy="365760"/>
          </a:xfrm>
          <a:prstGeom prst="line">
            <a:avLst/>
          </a:prstGeom>
          <a:ln w="25400">
            <a:solidFill>
              <a:srgbClr val="4AE0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9048" y="3291840"/>
            <a:ext cx="0" cy="868680"/>
          </a:xfrm>
          <a:prstGeom prst="line">
            <a:avLst/>
          </a:prstGeom>
          <a:ln w="25400">
            <a:solidFill>
              <a:srgbClr val="2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749039" y="4160520"/>
            <a:ext cx="4709160" cy="105156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86200" y="4462272"/>
            <a:ext cx="4434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SAFE  •  EFFICIENT  •  AWARE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532120"/>
            <a:ext cx="10835640" cy="640080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29241" y="5733288"/>
            <a:ext cx="834876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A4B1C6"/>
                </a:solidFill>
                <a:latin typeface="Aptos"/>
              </a:defRPr>
            </a:pPr>
            <a:r>
              <a:rPr sz="1600" dirty="0"/>
              <a:t>Empty + normal → save     |     Occupied + normal → operate     |     Abnormal → alert + protect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1CE4C80-72EF-F231-60CE-62A3CE24CAD8}"/>
              </a:ext>
            </a:extLst>
          </p:cNvPr>
          <p:cNvSpPr/>
          <p:nvPr/>
        </p:nvSpPr>
        <p:spPr>
          <a:xfrm>
            <a:off x="688750" y="1315301"/>
            <a:ext cx="4572001" cy="274828"/>
          </a:xfrm>
          <a:prstGeom prst="round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94796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8DCD2"/>
                </a:solidFill>
                <a:latin typeface="Aptos"/>
              </a:defRPr>
            </a:pPr>
            <a:r>
              <a:rPr sz="1050"/>
              <a:t>08 — ENERGY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t>We don't simply switch devices 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8751" y="1294049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1600" b="1" dirty="0"/>
              <a:t>We decide when energy should be 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2057400" cy="56692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A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057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2F7FF"/>
                </a:solidFill>
                <a:latin typeface="Aptos"/>
              </a:defRPr>
            </a:pPr>
            <a:r>
              <a:t>OCCUPANCY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011680"/>
            <a:ext cx="2057400" cy="56692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2194560"/>
            <a:ext cx="2057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2F7FF"/>
                </a:solidFill>
                <a:latin typeface="Aptos"/>
              </a:defRPr>
            </a:pPr>
            <a:r>
              <a:t>TIMETABLE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2011680"/>
            <a:ext cx="2057400" cy="56692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2194560"/>
            <a:ext cx="2057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2F7FF"/>
                </a:solidFill>
                <a:latin typeface="Aptos"/>
              </a:defRPr>
            </a:pPr>
            <a:r>
              <a:t>TEMPERATURE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011680"/>
            <a:ext cx="2057400" cy="56692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A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52360" y="2194560"/>
            <a:ext cx="2057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2F7FF"/>
                </a:solidFill>
                <a:latin typeface="Aptos"/>
              </a:defRPr>
            </a:pPr>
            <a:r>
              <a:t>DEVICE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2011680"/>
            <a:ext cx="2057400" cy="566928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38360" y="2194560"/>
            <a:ext cx="2057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2F7FF"/>
                </a:solidFill>
                <a:latin typeface="Aptos"/>
              </a:defRPr>
            </a:pPr>
            <a:r>
              <a:t>POWER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2578608"/>
            <a:ext cx="0" cy="393192"/>
          </a:xfrm>
          <a:prstGeom prst="line">
            <a:avLst/>
          </a:prstGeom>
          <a:ln w="25400">
            <a:solidFill>
              <a:srgbClr val="2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06240" y="2971800"/>
            <a:ext cx="3749039" cy="713232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3218688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8DCD2"/>
                </a:solidFill>
                <a:latin typeface="Aptos"/>
              </a:defRPr>
            </a:pPr>
            <a:r>
              <a:t>AI ENERGY DECISION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3685032"/>
            <a:ext cx="0" cy="292607"/>
          </a:xfrm>
          <a:prstGeom prst="line">
            <a:avLst/>
          </a:prstGeom>
          <a:ln w="25400">
            <a:solidFill>
              <a:srgbClr val="28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" y="4160520"/>
            <a:ext cx="3337560" cy="150876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A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343400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EMPTY CLASSROOM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00600"/>
            <a:ext cx="288036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t>💡 Lights → OFF</a:t>
            </a:r>
            <a:br/>
            <a:r>
              <a:t>❄ AC → energy-save</a:t>
            </a:r>
            <a:br/>
            <a:r>
              <a:t>📽 Projector → 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160520"/>
            <a:ext cx="3337560" cy="150876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B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4343400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OCCUPIED CLASSROOM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800600"/>
            <a:ext cx="288036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t>💡 Lights → ON</a:t>
            </a:r>
            <a:br/>
            <a:r>
              <a:t>❄ AC → appropriate mode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160520"/>
            <a:ext cx="3337560" cy="150876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4343400"/>
            <a:ext cx="2926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ABNORMAL POWER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800600"/>
            <a:ext cx="288036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t>⚡ Power Guard → warning</a:t>
            </a:r>
            <a:br/>
            <a:r>
              <a:t>🛡 Protective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F94D3A2-511C-1792-90E4-5A5E4170A2BB}"/>
              </a:ext>
            </a:extLst>
          </p:cNvPr>
          <p:cNvSpPr/>
          <p:nvPr/>
        </p:nvSpPr>
        <p:spPr>
          <a:xfrm>
            <a:off x="521111" y="1343658"/>
            <a:ext cx="5376770" cy="302488"/>
          </a:xfrm>
          <a:prstGeom prst="round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4498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8DCD2"/>
                </a:solidFill>
                <a:latin typeface="Aptos"/>
              </a:defRPr>
            </a:pPr>
            <a:r>
              <a:rPr sz="1200" dirty="0"/>
              <a:t>09 —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t>One dashboard. Complete classroom awareness.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07592"/>
            <a:ext cx="52120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1600" b="1" dirty="0"/>
              <a:t>A judge should understand the system in five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12080" cy="406908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A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CLASSROOM 204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057400"/>
            <a:ext cx="1325880" cy="310896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4A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1325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4AE091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4B1C6"/>
                </a:solidFill>
                <a:latin typeface="Aptos"/>
              </a:defRPr>
            </a:pPr>
            <a:r>
              <a:t>👥 Occupancy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9748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2F7FF"/>
                </a:solidFill>
                <a:latin typeface="Aptos"/>
              </a:defRPr>
            </a:pPr>
            <a:r>
              <a:t>EMPTY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72968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4B1C6"/>
                </a:solidFill>
                <a:latin typeface="Aptos"/>
              </a:defRPr>
            </a:pPr>
            <a:r>
              <a:t>💡 Lights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7296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2F7FF"/>
                </a:solidFill>
                <a:latin typeface="Aptos"/>
              </a:defRPr>
            </a:pPr>
            <a:r>
              <a:t>ON → optimizing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48456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4B1C6"/>
                </a:solidFill>
                <a:latin typeface="Aptos"/>
              </a:defRPr>
            </a:pPr>
            <a:r>
              <a:t>❄ 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4845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2F7FF"/>
                </a:solidFill>
                <a:latin typeface="Aptos"/>
              </a:defRPr>
            </a:pPr>
            <a:r>
              <a:t>ON → energy save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23944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4B1C6"/>
                </a:solidFill>
                <a:latin typeface="Aptos"/>
              </a:defRPr>
            </a:pPr>
            <a:r>
              <a:t>⚡ Power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123944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2F7FF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99431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4B1C6"/>
                </a:solidFill>
                <a:latin typeface="Aptos"/>
              </a:defRPr>
            </a:pPr>
            <a:r>
              <a:t>🛡 Power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599431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2F7FF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074920"/>
            <a:ext cx="4663440" cy="502920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230368"/>
            <a:ext cx="4389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4AE091"/>
                </a:solidFill>
                <a:latin typeface="Aptos"/>
              </a:defRPr>
            </a:pPr>
            <a:r>
              <a:t>Energy-saving action recommended.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874519"/>
            <a:ext cx="5212080" cy="406908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59" y="21488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CLASSROOM 205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057400"/>
            <a:ext cx="1325880" cy="310896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0" y="2103120"/>
            <a:ext cx="1325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5C69"/>
                </a:solidFill>
                <a:latin typeface="Aptos"/>
              </a:defRPr>
            </a:pPr>
            <a:r>
              <a:t>⚠ ABNORMAL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69748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4B1C6"/>
                </a:solidFill>
                <a:latin typeface="Aptos"/>
              </a:defRPr>
            </a:pPr>
            <a:r>
              <a:t>👥 Occupancy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69748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2F7FF"/>
                </a:solidFill>
                <a:latin typeface="Aptos"/>
              </a:defRPr>
            </a:pPr>
            <a:r>
              <a:t>OCCUPIED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9" y="3172968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4B1C6"/>
                </a:solidFill>
                <a:latin typeface="Aptos"/>
              </a:defRPr>
            </a:pPr>
            <a:r>
              <a:t>💡 Lights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17296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2F7FF"/>
                </a:solidFill>
                <a:latin typeface="Aptos"/>
              </a:defRPr>
            </a:pPr>
            <a:r>
              <a:t>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3648456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4B1C6"/>
                </a:solidFill>
                <a:latin typeface="Aptos"/>
              </a:defRPr>
            </a:pPr>
            <a:r>
              <a:t>❄ 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64845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2F7FF"/>
                </a:solidFill>
                <a:latin typeface="Aptos"/>
              </a:defRPr>
            </a:pPr>
            <a:r>
              <a:t>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4123944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4B1C6"/>
                </a:solidFill>
                <a:latin typeface="Aptos"/>
              </a:defRPr>
            </a:pPr>
            <a:r>
              <a:t>⚡ Power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123944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2F7FF"/>
                </a:solidFill>
                <a:latin typeface="Aptos"/>
              </a:defRPr>
            </a:pPr>
            <a:r>
              <a:t>ABNORMAL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4599431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4B1C6"/>
                </a:solidFill>
                <a:latin typeface="Aptos"/>
              </a:defRPr>
            </a:pPr>
            <a:r>
              <a:t>🛡 Power Guard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599431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2F7FF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59" y="5074920"/>
            <a:ext cx="4663440" cy="502920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75120" y="5230368"/>
            <a:ext cx="43891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5C69"/>
                </a:solidFill>
                <a:latin typeface="Aptos"/>
              </a:defRPr>
            </a:pPr>
            <a:r>
              <a:t>Power anomaly detected • Protection / alert triggered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0C5E68F-88CE-688B-3468-57C45DD8C629}"/>
              </a:ext>
            </a:extLst>
          </p:cNvPr>
          <p:cNvSpPr/>
          <p:nvPr/>
        </p:nvSpPr>
        <p:spPr>
          <a:xfrm>
            <a:off x="685800" y="1285357"/>
            <a:ext cx="5321710" cy="329749"/>
          </a:xfrm>
          <a:prstGeom prst="round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0" y="-19664"/>
            <a:ext cx="12191695" cy="6400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266" y="274222"/>
            <a:ext cx="178606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8DCD2"/>
                </a:solidFill>
                <a:latin typeface="Aptos"/>
              </a:defRPr>
            </a:pPr>
            <a:r>
              <a:rPr sz="1100" dirty="0"/>
              <a:t>10 — SAFETY +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58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rPr dirty="0"/>
              <a:t>Beyond energy: the classroom becomes aware.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77569"/>
            <a:ext cx="55531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1600" b="1" dirty="0"/>
              <a:t>Detect unusual conditions early and surface them clearly.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383280" cy="23317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2212848"/>
            <a:ext cx="384048" cy="384048"/>
          </a:xfrm>
          <a:prstGeom prst="ellipse">
            <a:avLst/>
          </a:prstGeom>
          <a:solidFill>
            <a:srgbClr val="FF5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4942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2194560"/>
            <a:ext cx="2505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279275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rPr sz="1100" dirty="0"/>
              <a:t>Temperature • smoke • unusual conditions</a:t>
            </a:r>
            <a:br>
              <a:rPr sz="1100" dirty="0"/>
            </a:br>
            <a:br>
              <a:rPr sz="1100" dirty="0"/>
            </a:br>
            <a:r>
              <a:rPr sz="1100" dirty="0"/>
              <a:t>→ Faster awareness</a:t>
            </a:r>
            <a:br>
              <a:rPr sz="1100" dirty="0"/>
            </a:br>
            <a:r>
              <a:rPr sz="1100" dirty="0"/>
              <a:t>→ Staff alert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23317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A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4590288" y="2212848"/>
            <a:ext cx="384048" cy="384048"/>
          </a:xfrm>
          <a:prstGeom prst="ellipse">
            <a:avLst/>
          </a:prstGeom>
          <a:solidFill>
            <a:srgbClr val="A5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24942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194560"/>
            <a:ext cx="2505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13316"/>
            <a:ext cx="212872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rPr sz="1200" dirty="0"/>
              <a:t>Occupancy • unusual activity</a:t>
            </a:r>
            <a:br>
              <a:rPr sz="1200" dirty="0"/>
            </a:br>
            <a:br>
              <a:rPr sz="1200" dirty="0"/>
            </a:br>
            <a:r>
              <a:rPr sz="1200" dirty="0"/>
              <a:t>→ Anomaly awareness</a:t>
            </a:r>
            <a:br>
              <a:rPr sz="1200" dirty="0"/>
            </a:br>
            <a:r>
              <a:rPr sz="1200" dirty="0"/>
              <a:t>→ Admin notification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11680"/>
            <a:ext cx="3383280" cy="233172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93608" y="2212848"/>
            <a:ext cx="384048" cy="384048"/>
          </a:xfrm>
          <a:prstGeom prst="ellipse">
            <a:avLst/>
          </a:prstGeom>
          <a:solidFill>
            <a:srgbClr val="FFC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249424"/>
            <a:ext cx="3840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70C16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7384" y="2194560"/>
            <a:ext cx="2505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236372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A4B1C6"/>
                </a:solidFill>
                <a:latin typeface="Aptos"/>
              </a:defRPr>
            </a:pPr>
            <a:r>
              <a:rPr sz="1200" dirty="0"/>
              <a:t>Voltage • current • power pattern</a:t>
            </a:r>
            <a:br>
              <a:rPr sz="1200" dirty="0"/>
            </a:br>
            <a:br>
              <a:rPr sz="1200" dirty="0"/>
            </a:br>
            <a:r>
              <a:rPr sz="1200" dirty="0"/>
              <a:t>→ Early anomaly detection</a:t>
            </a:r>
            <a:br>
              <a:rPr sz="1200" dirty="0"/>
            </a:br>
            <a:r>
              <a:rPr sz="1200" dirty="0"/>
              <a:t>→ Protective 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00600"/>
            <a:ext cx="10789920" cy="822960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64943" y="5074920"/>
            <a:ext cx="64776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28DCD2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95000"/>
                  </a:schemeClr>
                </a:solidFill>
              </a:rPr>
              <a:t>THE GUARDIAN CONNECTS SIGNALS THAT ARE USUALLY SEPARATE</a:t>
            </a:r>
            <a:r>
              <a:rPr lang="en-IN" sz="1600" dirty="0">
                <a:solidFill>
                  <a:schemeClr val="tx1">
                    <a:lumMod val="95000"/>
                  </a:schemeClr>
                </a:solidFill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3BD6577-3246-A2E5-D57B-59933B3960F3}"/>
              </a:ext>
            </a:extLst>
          </p:cNvPr>
          <p:cNvSpPr/>
          <p:nvPr/>
        </p:nvSpPr>
        <p:spPr>
          <a:xfrm>
            <a:off x="685800" y="1298449"/>
            <a:ext cx="6263640" cy="316920"/>
          </a:xfrm>
          <a:prstGeom prst="round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61775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8DCD2"/>
                </a:solidFill>
                <a:latin typeface="Aptos"/>
              </a:defRPr>
            </a:pPr>
            <a:r>
              <a:rPr sz="1050"/>
              <a:t>11 —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t>Why our solution is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07592"/>
            <a:ext cx="620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1400" dirty="0">
                <a:solidFill>
                  <a:schemeClr val="tx1">
                    <a:lumMod val="95000"/>
                  </a:schemeClr>
                </a:solidFill>
              </a:rPr>
              <a:t>Not another smart classroom. A classroom with a protective intelligence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965960" cy="530352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66265" y="2057400"/>
            <a:ext cx="8050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8DCD2"/>
                </a:solidFill>
                <a:latin typeface="Aptos"/>
              </a:defRPr>
            </a:pPr>
            <a:r>
              <a:rPr dirty="0"/>
              <a:t>CAPABILITY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74519"/>
            <a:ext cx="4069080" cy="530352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2057400"/>
            <a:ext cx="4069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8DCD2"/>
                </a:solidFill>
                <a:latin typeface="Aptos"/>
              </a:defRPr>
            </a:pPr>
            <a:r>
              <a:t>TYPICAL SMART CLASSROOM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74519"/>
            <a:ext cx="4069080" cy="530352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2057400"/>
            <a:ext cx="4069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8DCD2"/>
                </a:solidFill>
                <a:latin typeface="Aptos"/>
              </a:defRPr>
            </a:pPr>
            <a:r>
              <a:t>OUR GUARDIAN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87168"/>
            <a:ext cx="1965960" cy="576072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670048"/>
            <a:ext cx="181965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487168"/>
            <a:ext cx="4069080" cy="576072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53512" y="2670048"/>
            <a:ext cx="39227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A4B1C6"/>
                </a:solidFill>
                <a:latin typeface="Aptos"/>
              </a:defRPr>
            </a:pPr>
            <a:r>
              <a:t>Rules-based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487168"/>
            <a:ext cx="4069080" cy="576072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88352" y="2670048"/>
            <a:ext cx="39227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AI understands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99816"/>
            <a:ext cx="1965960" cy="576072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282696"/>
            <a:ext cx="181965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Energy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3099816"/>
            <a:ext cx="4069080" cy="576072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53512" y="3282696"/>
            <a:ext cx="39227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A4B1C6"/>
                </a:solidFill>
                <a:latin typeface="Aptos"/>
              </a:defRPr>
            </a:pPr>
            <a:r>
              <a:t>Device 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099816"/>
            <a:ext cx="4069080" cy="576072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88352" y="3282696"/>
            <a:ext cx="39227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Energy intelligence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12464"/>
            <a:ext cx="1965960" cy="576072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3895344"/>
            <a:ext cx="181965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3712464"/>
            <a:ext cx="4069080" cy="576072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53512" y="3895344"/>
            <a:ext cx="39227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A4B1C6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3712464"/>
            <a:ext cx="4069080" cy="576072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88352" y="3895344"/>
            <a:ext cx="39227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Power Guard + response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325112"/>
            <a:ext cx="1965960" cy="576072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4507992"/>
            <a:ext cx="181965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4325112"/>
            <a:ext cx="4069080" cy="576072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53512" y="4507992"/>
            <a:ext cx="39227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A4B1C6"/>
                </a:solidFill>
                <a:latin typeface="Aptos"/>
              </a:defRPr>
            </a:pPr>
            <a:r>
              <a:t>Reactive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4325112"/>
            <a:ext cx="4069080" cy="576072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88352" y="4507992"/>
            <a:ext cx="39227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Proactive anomaly awareness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937760"/>
            <a:ext cx="1965960" cy="576072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8952" y="5120640"/>
            <a:ext cx="181965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80360" y="4937760"/>
            <a:ext cx="4069080" cy="576072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53512" y="5120640"/>
            <a:ext cx="39227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A4B1C6"/>
                </a:solidFill>
                <a:latin typeface="Aptos"/>
              </a:defRPr>
            </a:pPr>
            <a:r>
              <a:t>Separate functions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4937760"/>
            <a:ext cx="4069080" cy="576072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88352" y="5120640"/>
            <a:ext cx="39227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2F7FF"/>
                </a:solidFill>
                <a:latin typeface="Aptos"/>
              </a:defRPr>
            </a:pPr>
            <a:r>
              <a:t>Integrated guardian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650992"/>
            <a:ext cx="10789920" cy="530352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" y="5815584"/>
            <a:ext cx="10515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28DCD2"/>
                </a:solidFill>
                <a:latin typeface="Aptos"/>
              </a:defRPr>
            </a:pPr>
            <a:r>
              <a:t>SMART ≠ AUTOMATIC     |     SMART = AWARE + INTELLIGENT + PROTECTIVE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B1C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5351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28DCD2"/>
                </a:solidFill>
                <a:latin typeface="Aptos"/>
              </a:defRPr>
            </a:pPr>
            <a:r>
              <a:rPr sz="1400" dirty="0">
                <a:solidFill>
                  <a:schemeClr val="tx2">
                    <a:lumMod val="10000"/>
                  </a:schemeClr>
                </a:solidFill>
              </a:rPr>
              <a:t>12 — THE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3329" y="713232"/>
            <a:ext cx="8929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rPr sz="2800" dirty="0">
                <a:solidFill>
                  <a:schemeClr val="tx2">
                    <a:lumMod val="50000"/>
                  </a:schemeClr>
                </a:solidFill>
              </a:rPr>
              <a:t>A classroom should not only know what is happening.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" y="1307592"/>
            <a:ext cx="5550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2400" dirty="0">
                <a:solidFill>
                  <a:srgbClr val="033713"/>
                </a:solidFill>
              </a:rPr>
              <a:t>It should know what to do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2560320" cy="182880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FFC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30428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CA4B"/>
                </a:solidFill>
                <a:latin typeface="Aptos"/>
              </a:defRPr>
            </a:pPr>
            <a:r>
              <a:rPr dirty="0"/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1827" y="2743200"/>
            <a:ext cx="16282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POWER 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5640" y="3127248"/>
            <a:ext cx="94064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CA4B"/>
                </a:solidFill>
                <a:latin typeface="Aptos"/>
              </a:defRPr>
            </a:pPr>
            <a:r>
              <a:rPr sz="1400" dirty="0"/>
              <a:t>PROTECT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057400"/>
            <a:ext cx="2560320" cy="182880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28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470807" y="2304288"/>
            <a:ext cx="5132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8DCD2"/>
                </a:solidFill>
                <a:latin typeface="Aptos"/>
              </a:defRPr>
            </a:pPr>
            <a:r>
              <a:rPr sz="2800" dirty="0"/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362" y="2743200"/>
            <a:ext cx="34817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rPr sz="1400"/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1953" y="3127248"/>
            <a:ext cx="57099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8DCD2"/>
                </a:solidFill>
                <a:latin typeface="Aptos"/>
              </a:defRPr>
            </a:pPr>
            <a:r>
              <a:rPr sz="1050" dirty="0"/>
              <a:t>THINK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057400"/>
            <a:ext cx="2560320" cy="182880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4A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01224" y="2304288"/>
            <a:ext cx="3754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AE091"/>
                </a:solidFill>
                <a:latin typeface="Aptos"/>
              </a:defRPr>
            </a:pPr>
            <a:r>
              <a:rPr sz="2400" dirty="0"/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0223" y="2743200"/>
            <a:ext cx="11374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rPr sz="1200" dirty="0"/>
              <a:t>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8826" y="3127248"/>
            <a:ext cx="8002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AE091"/>
                </a:solidFill>
                <a:latin typeface="Aptos"/>
              </a:defRPr>
            </a:pPr>
            <a:r>
              <a:rPr sz="1100" dirty="0"/>
              <a:t>OPTIMIZE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2057400"/>
            <a:ext cx="2560320" cy="1828800"/>
          </a:xfrm>
          <a:prstGeom prst="roundRect">
            <a:avLst/>
          </a:prstGeom>
          <a:solidFill>
            <a:srgbClr val="0F1726"/>
          </a:solidFill>
          <a:ln w="12700">
            <a:solidFill>
              <a:srgbClr val="A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29049" y="2304288"/>
            <a:ext cx="4427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56EFF"/>
                </a:solidFill>
                <a:latin typeface="Aptos"/>
              </a:defRPr>
            </a:pPr>
            <a:r>
              <a:rPr sz="2800" dirty="0"/>
              <a:t>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17" y="2743200"/>
            <a:ext cx="10790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rPr sz="1400" dirty="0"/>
              <a:t>GUARDIAN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9047" y="3127248"/>
            <a:ext cx="46275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56EFF"/>
                </a:solidFill>
                <a:latin typeface="Aptos"/>
              </a:defRPr>
            </a:pPr>
            <a:r>
              <a:rPr sz="1200" dirty="0"/>
              <a:t>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343400"/>
            <a:ext cx="10561320" cy="1143000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21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42419" y="4590288"/>
            <a:ext cx="43224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2F7FF"/>
                </a:solidFill>
                <a:latin typeface="Aptos"/>
              </a:defRPr>
            </a:pPr>
            <a:r>
              <a:rPr sz="1600"/>
              <a:t>“We are not just making a classroom smart.”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5191" y="5010912"/>
            <a:ext cx="70168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4B1C6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95000"/>
                  </a:schemeClr>
                </a:solidFill>
              </a:rPr>
              <a:t>“We are giving it the intelligence to save energy, detect risk, and protect itself.”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67575" y="5806440"/>
            <a:ext cx="787209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28DCD2"/>
                </a:solidFill>
                <a:latin typeface="Aptos"/>
              </a:defRPr>
            </a:pPr>
            <a:r>
              <a:rPr sz="2000" dirty="0">
                <a:solidFill>
                  <a:srgbClr val="033713"/>
                </a:solidFill>
              </a:rPr>
              <a:t>LET THE CLASSROOM THINK.  •  LET THE POWER GUARD PROTECT.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7288" y="6372701"/>
            <a:ext cx="47036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A4B1C6"/>
                </a:solidFill>
                <a:latin typeface="Aptos"/>
              </a:defRPr>
            </a:pPr>
            <a:r>
              <a:rPr sz="1400" dirty="0">
                <a:solidFill>
                  <a:schemeClr val="tx2">
                    <a:lumMod val="50000"/>
                  </a:schemeClr>
                </a:solidFill>
              </a:rPr>
              <a:t>THANK YOU  •  TEAM H4X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125</TotalTime>
  <Words>874</Words>
  <Application>Microsoft Office PowerPoint</Application>
  <PresentationFormat>Widescreen</PresentationFormat>
  <Paragraphs>228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Smart Classroom Guardian — Power Guard</dc:title>
  <dc:subject>IBM BOB AI Innovation Hackathon 2026</dc:subject>
  <dc:creator>Team H4X | CHARUSAT</dc:creator>
  <cp:keywords/>
  <dc:description>generated using python-pptx</dc:description>
  <cp:lastModifiedBy>Ashokkumar Patel</cp:lastModifiedBy>
  <cp:revision>3</cp:revision>
  <dcterms:created xsi:type="dcterms:W3CDTF">2013-01-27T09:14:16Z</dcterms:created>
  <dcterms:modified xsi:type="dcterms:W3CDTF">2026-09-15T14:49:18Z</dcterms:modified>
  <cp:category/>
</cp:coreProperties>
</file>